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6" r:id="rId11"/>
    <p:sldId id="267" r:id="rId12"/>
    <p:sldId id="265" r:id="rId13"/>
    <p:sldId id="268" r:id="rId14"/>
    <p:sldId id="270" r:id="rId15"/>
    <p:sldId id="271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1" d="100"/>
          <a:sy n="41" d="100"/>
        </p:scale>
        <p:origin x="52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94184-5EB6-4AA8-9940-93E5E9C368B3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5CAA8-E46B-4DB0-8E95-A17D3E1CE0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8630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94184-5EB6-4AA8-9940-93E5E9C368B3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5CAA8-E46B-4DB0-8E95-A17D3E1CE0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967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94184-5EB6-4AA8-9940-93E5E9C368B3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5CAA8-E46B-4DB0-8E95-A17D3E1CE0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171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94184-5EB6-4AA8-9940-93E5E9C368B3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5CAA8-E46B-4DB0-8E95-A17D3E1CE0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4885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94184-5EB6-4AA8-9940-93E5E9C368B3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5CAA8-E46B-4DB0-8E95-A17D3E1CE0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7426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94184-5EB6-4AA8-9940-93E5E9C368B3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5CAA8-E46B-4DB0-8E95-A17D3E1CE0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4962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94184-5EB6-4AA8-9940-93E5E9C368B3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5CAA8-E46B-4DB0-8E95-A17D3E1CE0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0928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94184-5EB6-4AA8-9940-93E5E9C368B3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5CAA8-E46B-4DB0-8E95-A17D3E1CE0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0977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94184-5EB6-4AA8-9940-93E5E9C368B3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5CAA8-E46B-4DB0-8E95-A17D3E1CE0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5593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94184-5EB6-4AA8-9940-93E5E9C368B3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5CAA8-E46B-4DB0-8E95-A17D3E1CE0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3091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94184-5EB6-4AA8-9940-93E5E9C368B3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5CAA8-E46B-4DB0-8E95-A17D3E1CE0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9367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A94184-5EB6-4AA8-9940-93E5E9C368B3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5CAA8-E46B-4DB0-8E95-A17D3E1CE0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4565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DFS </a:t>
            </a:r>
            <a:r>
              <a:rPr lang="ru-RU" dirty="0"/>
              <a:t>и </a:t>
            </a:r>
            <a:r>
              <a:rPr lang="en-US" dirty="0"/>
              <a:t>BFS</a:t>
            </a:r>
            <a:br>
              <a:rPr lang="en-US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75185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29558" y="48571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Обход графа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это процесс систематического просмотра всех вершин или рёбер графа, чтобы найти некоторые вершины, удовлетворяющие определённым условиям.</a:t>
            </a:r>
          </a:p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Примеры: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Навигация и карты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Веб-поиск и интернет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Сетевые технологии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Логистика</a:t>
            </a:r>
          </a:p>
        </p:txBody>
      </p:sp>
    </p:spTree>
    <p:extLst>
      <p:ext uri="{BB962C8B-B14F-4D97-AF65-F5344CB8AC3E}">
        <p14:creationId xmlns:p14="http://schemas.microsoft.com/office/powerpoint/2010/main" val="2894268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1329" y="383232"/>
            <a:ext cx="10515600" cy="621703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err="1"/>
              <a:t>Стэк</a:t>
            </a:r>
            <a:r>
              <a:rPr lang="ru-RU" dirty="0"/>
              <a:t> и очередь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874414" y="2755900"/>
            <a:ext cx="12192000" cy="0"/>
          </a:xfrm>
          <a:prstGeom prst="rect">
            <a:avLst/>
          </a:prstGeom>
          <a:solidFill>
            <a:srgbClr val="1515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2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</a:br>
            <a:endParaRPr kumimoji="0" lang="ru-RU" altLang="ru-RU" sz="1200" b="0" i="0" u="none" strike="noStrike" cap="none" normalizeH="0" baseline="0">
              <a:ln>
                <a:noFill/>
              </a:ln>
              <a:solidFill>
                <a:srgbClr val="F9FAFB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5594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1329" y="383232"/>
            <a:ext cx="10515600" cy="621703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err="1"/>
              <a:t>Стэк</a:t>
            </a:r>
            <a:r>
              <a:rPr lang="ru-RU" dirty="0"/>
              <a:t> и очередь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152399"/>
              </p:ext>
            </p:extLst>
          </p:nvPr>
        </p:nvGraphicFramePr>
        <p:xfrm>
          <a:off x="801985" y="2027977"/>
          <a:ext cx="10515600" cy="229309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045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50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50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4811"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Характеристика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Стек (</a:t>
                      </a:r>
                      <a:r>
                        <a:rPr lang="en-US">
                          <a:effectLst/>
                        </a:rPr>
                        <a:t>Stack)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Очередь (</a:t>
                      </a:r>
                      <a:r>
                        <a:rPr lang="en-US">
                          <a:effectLst/>
                        </a:rPr>
                        <a:t>Queue)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Принцип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LIFO (Last-In, First-Out) - последний пришел, первый ушел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FIFO (</a:t>
                      </a:r>
                      <a:r>
                        <a:rPr lang="ru-RU" dirty="0" err="1">
                          <a:effectLst/>
                        </a:rPr>
                        <a:t>First-In</a:t>
                      </a:r>
                      <a:r>
                        <a:rPr lang="ru-RU" dirty="0">
                          <a:effectLst/>
                        </a:rPr>
                        <a:t>, </a:t>
                      </a:r>
                      <a:r>
                        <a:rPr lang="ru-RU" dirty="0" err="1">
                          <a:effectLst/>
                        </a:rPr>
                        <a:t>First-Out</a:t>
                      </a:r>
                      <a:r>
                        <a:rPr lang="ru-RU" dirty="0">
                          <a:effectLst/>
                        </a:rPr>
                        <a:t>) - первый пришел, первый ушел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Аналогия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Стопка тарелок: кладем сверху и берем сверху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Очередь в магазине: кто первым встал, тот первым обслужен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874414" y="2755900"/>
            <a:ext cx="12192000" cy="0"/>
          </a:xfrm>
          <a:prstGeom prst="rect">
            <a:avLst/>
          </a:prstGeom>
          <a:solidFill>
            <a:srgbClr val="1515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2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</a:br>
            <a:endParaRPr kumimoji="0" lang="ru-RU" altLang="ru-RU" sz="1200" b="0" i="0" u="none" strike="noStrike" cap="none" normalizeH="0" baseline="0">
              <a:ln>
                <a:noFill/>
              </a:ln>
              <a:solidFill>
                <a:srgbClr val="F9FAFB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319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416" y="-190123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569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08" y="1443886"/>
            <a:ext cx="5657850" cy="357187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666" y="1443885"/>
            <a:ext cx="5638800" cy="3571875"/>
          </a:xfrm>
          <a:prstGeom prst="rect">
            <a:avLst/>
          </a:prstGeom>
        </p:spPr>
      </p:pic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521329" y="383232"/>
            <a:ext cx="10515600" cy="621703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err="1"/>
              <a:t>Стэк</a:t>
            </a:r>
            <a:r>
              <a:rPr lang="ru-RU" dirty="0"/>
              <a:t> </a:t>
            </a:r>
            <a:r>
              <a:rPr lang="en-US" dirty="0"/>
              <a:t>                                       </a:t>
            </a:r>
            <a:r>
              <a:rPr lang="ru-RU" dirty="0"/>
              <a:t> Очередь</a:t>
            </a:r>
          </a:p>
        </p:txBody>
      </p:sp>
    </p:spTree>
    <p:extLst>
      <p:ext uri="{BB962C8B-B14F-4D97-AF65-F5344CB8AC3E}">
        <p14:creationId xmlns:p14="http://schemas.microsoft.com/office/powerpoint/2010/main" val="44293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1329" y="383232"/>
            <a:ext cx="10515600" cy="621703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Алгоритм Поиска в Глубину (DFS)</a:t>
            </a:r>
            <a:br>
              <a:rPr lang="en-US" b="1" dirty="0"/>
            </a:br>
            <a:endParaRPr lang="ru-RU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874414" y="2755900"/>
            <a:ext cx="12192000" cy="0"/>
          </a:xfrm>
          <a:prstGeom prst="rect">
            <a:avLst/>
          </a:prstGeom>
          <a:solidFill>
            <a:srgbClr val="1515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2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</a:br>
            <a:endParaRPr kumimoji="0" lang="ru-RU" altLang="ru-RU" sz="1200" b="0" i="0" u="none" strike="noStrike" cap="none" normalizeH="0" baseline="0">
              <a:ln>
                <a:noFill/>
              </a:ln>
              <a:solidFill>
                <a:srgbClr val="F9FAFB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48077" y="750708"/>
            <a:ext cx="107223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/>
              <a:t>Идея </a:t>
            </a:r>
            <a:r>
              <a:rPr lang="ru-RU" sz="2400" dirty="0"/>
              <a:t>—</a:t>
            </a:r>
            <a:r>
              <a:rPr lang="en-US" sz="2400" dirty="0"/>
              <a:t> </a:t>
            </a:r>
            <a:r>
              <a:rPr lang="ru-RU" sz="2400" dirty="0"/>
              <a:t>когда возможные пути по рёбрам, выходящим из вершин, разветвляются, нужно сначала полностью исследовать одну ветку и только потом переходить к другим веткам 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178052" y="2036751"/>
            <a:ext cx="5272134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Шаг 1. </a:t>
            </a:r>
            <a:r>
              <a:rPr lang="ru-RU" dirty="0"/>
              <a:t>Все вершины графа отмечаем, как не посещенные. Выбирается первая вершина и помечается как посещённая.</a:t>
            </a:r>
            <a:endParaRPr lang="en-US" dirty="0"/>
          </a:p>
          <a:p>
            <a:endParaRPr lang="ru-RU" dirty="0"/>
          </a:p>
          <a:p>
            <a:r>
              <a:rPr lang="ru-RU" b="1" dirty="0"/>
              <a:t>Шаг 2</a:t>
            </a:r>
            <a:r>
              <a:rPr lang="ru-RU" dirty="0"/>
              <a:t>. Для последней помеченной как посещённой вершины выбирается смежная вершина, которая первая помеченная как не посещенная, и ей присваивается значение посещённой. Если таких вершин нет, то берётся предыдущая помеченная вершина.</a:t>
            </a:r>
            <a:endParaRPr lang="en-US" dirty="0"/>
          </a:p>
          <a:p>
            <a:endParaRPr lang="ru-RU" dirty="0"/>
          </a:p>
          <a:p>
            <a:r>
              <a:rPr lang="ru-RU" b="1" dirty="0"/>
              <a:t>Шаг 3. </a:t>
            </a:r>
            <a:r>
              <a:rPr lang="ru-RU" dirty="0"/>
              <a:t>Повторяем шаг 2 до тех пор, пока все вершины не будут помечены как посещённые.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850" y="2109458"/>
            <a:ext cx="6380348" cy="316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317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125" y="680235"/>
            <a:ext cx="9353550" cy="463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460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9313" y="319858"/>
            <a:ext cx="11619368" cy="1325563"/>
          </a:xfrm>
        </p:spPr>
        <p:txBody>
          <a:bodyPr/>
          <a:lstStyle/>
          <a:p>
            <a:r>
              <a:rPr lang="ru-RU" dirty="0"/>
              <a:t>   Рекурсия</a:t>
            </a:r>
            <a:r>
              <a:rPr lang="en-US" dirty="0"/>
              <a:t>                             </a:t>
            </a:r>
            <a:r>
              <a:rPr lang="ru-RU" dirty="0"/>
              <a:t>Итеративный вызов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9313" y="1970480"/>
            <a:ext cx="441281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DFS(graph, v, used):</a:t>
            </a:r>
          </a:p>
          <a:p>
            <a:pPr marL="0" indent="0">
              <a:buNone/>
            </a:pPr>
            <a:r>
              <a:rPr lang="en-US" dirty="0"/>
              <a:t>    used[v] = 1</a:t>
            </a:r>
          </a:p>
          <a:p>
            <a:pPr marL="0" indent="0">
              <a:buNone/>
            </a:pPr>
            <a:r>
              <a:rPr lang="en-US" dirty="0"/>
              <a:t>    for (</a:t>
            </a:r>
            <a:r>
              <a:rPr lang="en-US" dirty="0" err="1"/>
              <a:t>var</a:t>
            </a:r>
            <a:r>
              <a:rPr lang="en-US" dirty="0"/>
              <a:t> u : graph[v])</a:t>
            </a:r>
          </a:p>
          <a:p>
            <a:pPr marL="0" indent="0">
              <a:buNone/>
            </a:pPr>
            <a:r>
              <a:rPr lang="en-US" dirty="0"/>
              <a:t>        if (!used[u])</a:t>
            </a:r>
          </a:p>
          <a:p>
            <a:pPr marL="0" indent="0">
              <a:buNone/>
            </a:pPr>
            <a:r>
              <a:rPr lang="en-US" dirty="0"/>
              <a:t>           DFS(graph, u, used)</a:t>
            </a:r>
          </a:p>
          <a:p>
            <a:endParaRPr lang="ru-RU" dirty="0"/>
          </a:p>
        </p:txBody>
      </p:sp>
      <p:sp>
        <p:nvSpPr>
          <p:cNvPr id="4" name="Объект 2"/>
          <p:cNvSpPr txBox="1">
            <a:spLocks/>
          </p:cNvSpPr>
          <p:nvPr/>
        </p:nvSpPr>
        <p:spPr>
          <a:xfrm>
            <a:off x="6993047" y="1645421"/>
            <a:ext cx="44128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DFS(graph, v, used):</a:t>
            </a:r>
          </a:p>
          <a:p>
            <a:pPr marL="0" indent="0">
              <a:buNone/>
            </a:pPr>
            <a:r>
              <a:rPr lang="en-US" dirty="0"/>
              <a:t>    stack q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q.push</a:t>
            </a:r>
            <a:r>
              <a:rPr lang="en-US" dirty="0"/>
              <a:t>(v)</a:t>
            </a:r>
          </a:p>
          <a:p>
            <a:pPr marL="0" indent="0">
              <a:buNone/>
            </a:pPr>
            <a:r>
              <a:rPr lang="en-US" dirty="0"/>
              <a:t>    used[v] = 1</a:t>
            </a:r>
          </a:p>
          <a:p>
            <a:pPr marL="0" indent="0">
              <a:buNone/>
            </a:pPr>
            <a:r>
              <a:rPr lang="en-US" dirty="0"/>
              <a:t>    while(!</a:t>
            </a:r>
            <a:r>
              <a:rPr lang="en-US" dirty="0" err="1"/>
              <a:t>q.empty</a:t>
            </a:r>
            <a:r>
              <a:rPr lang="en-US" dirty="0"/>
              <a:t>())</a:t>
            </a:r>
          </a:p>
          <a:p>
            <a:pPr marL="0" indent="0">
              <a:buNone/>
            </a:pPr>
            <a:r>
              <a:rPr lang="en-US" dirty="0"/>
              <a:t>      v = </a:t>
            </a:r>
            <a:r>
              <a:rPr lang="en-US" dirty="0" err="1"/>
              <a:t>q.front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q.pop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   for (</a:t>
            </a:r>
            <a:r>
              <a:rPr lang="en-US" dirty="0" err="1"/>
              <a:t>var</a:t>
            </a:r>
            <a:r>
              <a:rPr lang="en-US" dirty="0"/>
              <a:t> to : graph[v]):</a:t>
            </a:r>
          </a:p>
          <a:p>
            <a:pPr marL="0" indent="0">
              <a:buNone/>
            </a:pPr>
            <a:r>
              <a:rPr lang="en-US" dirty="0"/>
              <a:t>        if (!used[to]):</a:t>
            </a:r>
          </a:p>
          <a:p>
            <a:pPr marL="0" indent="0">
              <a:buNone/>
            </a:pPr>
            <a:r>
              <a:rPr lang="en-US" dirty="0"/>
              <a:t>          used[to] = true</a:t>
            </a:r>
          </a:p>
          <a:p>
            <a:pPr marL="0" indent="0">
              <a:buNone/>
            </a:pPr>
            <a:r>
              <a:rPr lang="en-US" dirty="0"/>
              <a:t>          </a:t>
            </a:r>
            <a:r>
              <a:rPr lang="en-US" dirty="0" err="1"/>
              <a:t>q.push</a:t>
            </a:r>
            <a:r>
              <a:rPr lang="en-US" dirty="0"/>
              <a:t>(to)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42183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1329" y="383232"/>
            <a:ext cx="10515600" cy="621703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Алгоритм Поиска в Ширину (</a:t>
            </a:r>
            <a:r>
              <a:rPr lang="en-US" b="1" dirty="0"/>
              <a:t>B</a:t>
            </a:r>
            <a:r>
              <a:rPr lang="ru-RU" b="1" dirty="0"/>
              <a:t>FS)</a:t>
            </a:r>
            <a:br>
              <a:rPr lang="en-US" b="1" dirty="0"/>
            </a:br>
            <a:endParaRPr lang="ru-RU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874414" y="2755900"/>
            <a:ext cx="12192000" cy="0"/>
          </a:xfrm>
          <a:prstGeom prst="rect">
            <a:avLst/>
          </a:prstGeom>
          <a:solidFill>
            <a:srgbClr val="1515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2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</a:br>
            <a:endParaRPr kumimoji="0" lang="ru-RU" altLang="ru-RU" sz="1200" b="0" i="0" u="none" strike="noStrike" cap="none" normalizeH="0" baseline="0">
              <a:ln>
                <a:noFill/>
              </a:ln>
              <a:solidFill>
                <a:srgbClr val="F9FAFB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750708"/>
            <a:ext cx="1137039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/>
              <a:t>Основное его отличие в том, что сначала </a:t>
            </a:r>
            <a:r>
              <a:rPr lang="ru-RU" sz="2400" b="1" dirty="0"/>
              <a:t>исследуются смежные вершины</a:t>
            </a:r>
            <a:r>
              <a:rPr lang="ru-RU" sz="2400" dirty="0"/>
              <a:t>, а уже потом вершины на следующем уровне. Иначе говоря, сначала исследуются все вершины, </a:t>
            </a:r>
            <a:r>
              <a:rPr lang="ru-RU" sz="2400" b="1" dirty="0"/>
              <a:t>смежные с начальной вершино</a:t>
            </a:r>
            <a:r>
              <a:rPr lang="ru-RU" sz="2400" dirty="0"/>
              <a:t>й (вершина с которой начинается обход). Эти вершины находятся на расстоянии 1 от начальной. Затем исследуются все вершины на расстоянии 2 от начальной, затем все на расстоянии 3 и так далее.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141838" y="3059032"/>
            <a:ext cx="527213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Шаг 1. </a:t>
            </a:r>
            <a:r>
              <a:rPr lang="ru-RU" dirty="0"/>
              <a:t>Всем вершинам графа присваивается значение не посещённой. Выбирается первая вершина и помечается как посещённая и заносится в очередь.</a:t>
            </a:r>
            <a:endParaRPr lang="en-US" dirty="0"/>
          </a:p>
          <a:p>
            <a:endParaRPr lang="ru-RU" b="1" dirty="0"/>
          </a:p>
          <a:p>
            <a:r>
              <a:rPr lang="ru-RU" b="1" dirty="0"/>
              <a:t>Шаг 2. </a:t>
            </a:r>
            <a:r>
              <a:rPr lang="ru-RU" dirty="0"/>
              <a:t>Посещается первая вершина из очереди (если она не помечена как посещённая). Все её соседние вершины заносятся в очередь. После этого она удаляется из очереди.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Шаг 3. Повторяется шаг 2 до тех пор, пока очередь не станет пустой.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129" y="3057176"/>
            <a:ext cx="6176444" cy="1510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389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9313" y="319858"/>
            <a:ext cx="11619368" cy="1325563"/>
          </a:xfrm>
        </p:spPr>
        <p:txBody>
          <a:bodyPr/>
          <a:lstStyle/>
          <a:p>
            <a:r>
              <a:rPr lang="ru-RU" dirty="0"/>
              <a:t>Итеративный вызов</a:t>
            </a:r>
          </a:p>
        </p:txBody>
      </p:sp>
      <p:sp>
        <p:nvSpPr>
          <p:cNvPr id="4" name="Объект 2"/>
          <p:cNvSpPr txBox="1">
            <a:spLocks/>
          </p:cNvSpPr>
          <p:nvPr/>
        </p:nvSpPr>
        <p:spPr>
          <a:xfrm>
            <a:off x="284429" y="1844597"/>
            <a:ext cx="44128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BFS(graph, v, used):</a:t>
            </a:r>
          </a:p>
          <a:p>
            <a:pPr marL="0" indent="0">
              <a:buNone/>
            </a:pPr>
            <a:r>
              <a:rPr lang="en-US" dirty="0"/>
              <a:t>    queue q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q.push</a:t>
            </a:r>
            <a:r>
              <a:rPr lang="en-US" dirty="0"/>
              <a:t>(v)</a:t>
            </a:r>
          </a:p>
          <a:p>
            <a:pPr marL="0" indent="0">
              <a:buNone/>
            </a:pPr>
            <a:r>
              <a:rPr lang="en-US" dirty="0"/>
              <a:t>    used[v] = 1</a:t>
            </a:r>
          </a:p>
          <a:p>
            <a:pPr marL="0" indent="0">
              <a:buNone/>
            </a:pPr>
            <a:r>
              <a:rPr lang="en-US" dirty="0"/>
              <a:t>    while(!</a:t>
            </a:r>
            <a:r>
              <a:rPr lang="en-US" dirty="0" err="1"/>
              <a:t>q.empty</a:t>
            </a:r>
            <a:r>
              <a:rPr lang="en-US" dirty="0"/>
              <a:t>())</a:t>
            </a:r>
          </a:p>
          <a:p>
            <a:pPr marL="0" indent="0">
              <a:buNone/>
            </a:pPr>
            <a:r>
              <a:rPr lang="en-US" dirty="0"/>
              <a:t>      v = </a:t>
            </a:r>
            <a:r>
              <a:rPr lang="en-US" dirty="0" err="1"/>
              <a:t>q.front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q.pop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   for (</a:t>
            </a:r>
            <a:r>
              <a:rPr lang="en-US" dirty="0" err="1"/>
              <a:t>var</a:t>
            </a:r>
            <a:r>
              <a:rPr lang="en-US" dirty="0"/>
              <a:t> to : graph[v]):</a:t>
            </a:r>
          </a:p>
          <a:p>
            <a:pPr marL="0" indent="0">
              <a:buNone/>
            </a:pPr>
            <a:r>
              <a:rPr lang="en-US" dirty="0"/>
              <a:t>        if (!used[to]):</a:t>
            </a:r>
          </a:p>
          <a:p>
            <a:pPr marL="0" indent="0">
              <a:buNone/>
            </a:pPr>
            <a:r>
              <a:rPr lang="en-US" dirty="0"/>
              <a:t>          used[to] = true</a:t>
            </a:r>
          </a:p>
          <a:p>
            <a:pPr marL="0" indent="0">
              <a:buNone/>
            </a:pPr>
            <a:r>
              <a:rPr lang="en-US" dirty="0"/>
              <a:t>          </a:t>
            </a:r>
            <a:r>
              <a:rPr lang="en-US" dirty="0" err="1"/>
              <a:t>q.push</a:t>
            </a:r>
            <a:r>
              <a:rPr lang="en-US" dirty="0"/>
              <a:t>(to)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05626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30315" y="1020932"/>
            <a:ext cx="6657725" cy="5239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bfs_recursive</a:t>
            </a:r>
            <a:r>
              <a:rPr lang="en-US" dirty="0"/>
              <a:t>(graph, queue, used):</a:t>
            </a:r>
          </a:p>
          <a:p>
            <a:r>
              <a:rPr lang="en-US" dirty="0"/>
              <a:t>    if not queue:</a:t>
            </a:r>
          </a:p>
          <a:p>
            <a:r>
              <a:rPr lang="en-US" dirty="0"/>
              <a:t>        return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v = </a:t>
            </a:r>
            <a:r>
              <a:rPr lang="en-US" dirty="0" err="1"/>
              <a:t>queue.pop</a:t>
            </a:r>
            <a:r>
              <a:rPr lang="en-US" dirty="0"/>
              <a:t>(0)</a:t>
            </a:r>
          </a:p>
          <a:p>
            <a:r>
              <a:rPr lang="en-US" dirty="0"/>
              <a:t>    for to in graph[v]:</a:t>
            </a:r>
          </a:p>
          <a:p>
            <a:r>
              <a:rPr lang="en-US" dirty="0"/>
              <a:t>        if not used[to]:</a:t>
            </a:r>
          </a:p>
          <a:p>
            <a:r>
              <a:rPr lang="en-US" dirty="0"/>
              <a:t>            used[to] = True</a:t>
            </a:r>
          </a:p>
          <a:p>
            <a:r>
              <a:rPr lang="en-US" dirty="0"/>
              <a:t>            </a:t>
            </a:r>
            <a:r>
              <a:rPr lang="en-US" dirty="0" err="1"/>
              <a:t>queue.append</a:t>
            </a:r>
            <a:r>
              <a:rPr lang="en-US" dirty="0"/>
              <a:t>(to)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</a:t>
            </a:r>
            <a:r>
              <a:rPr lang="en-US" dirty="0" err="1"/>
              <a:t>bfs_recursive</a:t>
            </a:r>
            <a:r>
              <a:rPr lang="en-US" dirty="0"/>
              <a:t>(graph, queue, used)</a:t>
            </a:r>
          </a:p>
          <a:p>
            <a:endParaRPr lang="en-US" dirty="0"/>
          </a:p>
          <a:p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bfs</a:t>
            </a:r>
            <a:r>
              <a:rPr lang="en-US" dirty="0"/>
              <a:t>(graph, start):</a:t>
            </a:r>
          </a:p>
          <a:p>
            <a:r>
              <a:rPr lang="en-US" dirty="0"/>
              <a:t>    used = {node: False for node in graph}</a:t>
            </a:r>
          </a:p>
          <a:p>
            <a:r>
              <a:rPr lang="en-US" dirty="0"/>
              <a:t>    used[start] = True</a:t>
            </a:r>
          </a:p>
          <a:p>
            <a:r>
              <a:rPr lang="en-US" dirty="0"/>
              <a:t>    queue = [start]</a:t>
            </a:r>
          </a:p>
          <a:p>
            <a:r>
              <a:rPr lang="en-US" dirty="0"/>
              <a:t>    </a:t>
            </a:r>
            <a:r>
              <a:rPr lang="en-US" dirty="0" err="1"/>
              <a:t>bfs_recursive</a:t>
            </a:r>
            <a:r>
              <a:rPr lang="en-US" dirty="0"/>
              <a:t>(graph, queue, used)</a:t>
            </a:r>
          </a:p>
          <a:p>
            <a:r>
              <a:rPr lang="en-US" dirty="0"/>
              <a:t>    return used</a:t>
            </a:r>
            <a:endParaRPr lang="ru-RU" dirty="0"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349313" y="-143405"/>
            <a:ext cx="11619368" cy="1325563"/>
          </a:xfrm>
        </p:spPr>
        <p:txBody>
          <a:bodyPr/>
          <a:lstStyle/>
          <a:p>
            <a:r>
              <a:rPr lang="ru-RU" dirty="0"/>
              <a:t>Рекурсия</a:t>
            </a:r>
          </a:p>
        </p:txBody>
      </p:sp>
    </p:spTree>
    <p:extLst>
      <p:ext uri="{BB962C8B-B14F-4D97-AF65-F5344CB8AC3E}">
        <p14:creationId xmlns:p14="http://schemas.microsoft.com/office/powerpoint/2010/main" val="3499274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Асимптотическая сложность алгоритма поиска в глубину и ширину — O(V+E)</a:t>
            </a:r>
            <a:r>
              <a:rPr lang="ru-RU" i="1" dirty="0"/>
              <a:t>O</a:t>
            </a:r>
            <a:r>
              <a:rPr lang="ru-RU" dirty="0"/>
              <a:t>(</a:t>
            </a:r>
            <a:r>
              <a:rPr lang="ru-RU" i="1" dirty="0"/>
              <a:t>V</a:t>
            </a:r>
            <a:r>
              <a:rPr lang="ru-RU" dirty="0"/>
              <a:t>+</a:t>
            </a:r>
            <a:r>
              <a:rPr lang="ru-RU" i="1" dirty="0"/>
              <a:t>E</a:t>
            </a:r>
            <a:r>
              <a:rPr lang="ru-RU" dirty="0"/>
              <a:t>), где </a:t>
            </a:r>
            <a:r>
              <a:rPr lang="ru-RU" i="1" dirty="0"/>
              <a:t>V</a:t>
            </a:r>
            <a:r>
              <a:rPr lang="ru-RU" dirty="0"/>
              <a:t> — число вершин, а E — число рёбер и дуг. </a:t>
            </a:r>
          </a:p>
        </p:txBody>
      </p:sp>
    </p:spTree>
    <p:extLst>
      <p:ext uri="{BB962C8B-B14F-4D97-AF65-F5344CB8AC3E}">
        <p14:creationId xmlns:p14="http://schemas.microsoft.com/office/powerpoint/2010/main" val="302229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C1B01C-71D2-4313-BB26-434D737CE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Детектор </a:t>
            </a:r>
            <a:r>
              <a:rPr lang="ru-RU" dirty="0" err="1"/>
              <a:t>Канни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1AEB50-5141-424F-8718-F5F9B33E1B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18" y="1952625"/>
            <a:ext cx="5469255" cy="391563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8DC49D4-A88C-4C41-8508-A66D2CA56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5154" y="1952624"/>
            <a:ext cx="5469255" cy="3915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178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BE108D71-9F88-4314-9F2F-77AF78BD5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6128"/>
            <a:ext cx="10515600" cy="5750835"/>
          </a:xfrm>
        </p:spPr>
        <p:txBody>
          <a:bodyPr/>
          <a:lstStyle/>
          <a:p>
            <a:pPr algn="just"/>
            <a:r>
              <a:rPr lang="ru-RU" dirty="0"/>
              <a:t>Находим первоначальные контура при помощи производных изображения – градиенты (значение производной и направление)</a:t>
            </a:r>
          </a:p>
          <a:p>
            <a:pPr algn="just"/>
            <a:r>
              <a:rPr lang="ru-RU" dirty="0"/>
              <a:t>Затем направление градиента округляется – углы могут принимать значения, кратные 45 град.</a:t>
            </a:r>
          </a:p>
          <a:p>
            <a:pPr algn="just"/>
            <a:r>
              <a:rPr lang="ru-RU" dirty="0"/>
              <a:t>Подавление </a:t>
            </a:r>
            <a:r>
              <a:rPr lang="ru-RU" dirty="0" err="1"/>
              <a:t>немаксимумов</a:t>
            </a:r>
            <a:r>
              <a:rPr lang="ru-RU" dirty="0"/>
              <a:t> – берем пиксель и сравниваем его значение с соседями, если оно наибольшее – оставляем.</a:t>
            </a:r>
          </a:p>
          <a:p>
            <a:pPr algn="just"/>
            <a:r>
              <a:rPr lang="ru-RU" dirty="0"/>
              <a:t>Пороговый отсев. Два порога – верхний и нижний. Все, что выше верхнего, помечаем как «сильные пиксели», все что между двух порогов – «слабыми пикселями», остальное – отбрасываем.</a:t>
            </a:r>
          </a:p>
          <a:p>
            <a:pPr algn="just"/>
            <a:r>
              <a:rPr lang="ru-RU" dirty="0"/>
              <a:t>Склеивание. Если слабые пиксели касаются сильных, то их объединяем с сильными – используем </a:t>
            </a:r>
            <a:r>
              <a:rPr lang="en-US"/>
              <a:t>BFS!</a:t>
            </a:r>
          </a:p>
          <a:p>
            <a:pPr algn="just"/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7248848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811</Words>
  <Application>Microsoft Office PowerPoint</Application>
  <PresentationFormat>Широкоэкранный</PresentationFormat>
  <Paragraphs>94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quote-cjk-patch</vt:lpstr>
      <vt:lpstr>Times New Roman</vt:lpstr>
      <vt:lpstr>Тема Office</vt:lpstr>
      <vt:lpstr>DFS и BFS </vt:lpstr>
      <vt:lpstr>Презентация PowerPoint</vt:lpstr>
      <vt:lpstr>Стэк и очередь</vt:lpstr>
      <vt:lpstr>Стэк и очередь</vt:lpstr>
      <vt:lpstr>Презентация PowerPoint</vt:lpstr>
      <vt:lpstr>Стэк                                         Очередь</vt:lpstr>
      <vt:lpstr>Алгоритм Поиска в Глубину (DFS) </vt:lpstr>
      <vt:lpstr>Презентация PowerPoint</vt:lpstr>
      <vt:lpstr>   Рекурсия                             Итеративный вызов</vt:lpstr>
      <vt:lpstr>Алгоритм Поиска в Ширину (BFS) </vt:lpstr>
      <vt:lpstr>Итеративный вызов</vt:lpstr>
      <vt:lpstr>Рекурсия</vt:lpstr>
      <vt:lpstr>Презентация PowerPoint</vt:lpstr>
      <vt:lpstr>Детектор Канни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123</dc:creator>
  <cp:lastModifiedBy>Руслан Рогозин</cp:lastModifiedBy>
  <cp:revision>29</cp:revision>
  <dcterms:created xsi:type="dcterms:W3CDTF">2025-10-27T14:28:58Z</dcterms:created>
  <dcterms:modified xsi:type="dcterms:W3CDTF">2026-04-01T14:40:15Z</dcterms:modified>
</cp:coreProperties>
</file>